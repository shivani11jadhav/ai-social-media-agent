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90" r:id="rId3"/>
    <p:sldId id="291" r:id="rId4"/>
    <p:sldId id="292" r:id="rId6"/>
    <p:sldId id="293" r:id="rId7"/>
    <p:sldId id="294" r:id="rId8"/>
    <p:sldId id="295" r:id="rId9"/>
    <p:sldId id="296" r:id="rId10"/>
    <p:sldId id="297" r:id="rId11"/>
    <p:sldId id="299"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hyperlink" Target="https://github.com/shivani11jadhav/AI-Social-Media-Agent/"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US" sz="2000" b="1"/>
                        <a:t>Shivani Pratap Jadhav</a:t>
                      </a:r>
                      <a:endParaRPr lang="en-US" sz="2000" b="1"/>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a:t>jadhavshivani2024@gmail.com</a:t>
                      </a:r>
                      <a:endParaRPr lang="en-US"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a:t>7972401175</a:t>
                      </a:r>
                      <a:endParaRPr lang="en-US"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521970"/>
          </a:xfrm>
          <a:prstGeom prst="rect">
            <a:avLst/>
          </a:prstGeom>
          <a:noFill/>
        </p:spPr>
        <p:txBody>
          <a:bodyPr wrap="square" rtlCol="0">
            <a:spAutoFit/>
          </a:bodyPr>
          <a:lstStyle/>
          <a:p>
            <a:r>
              <a:rPr lang="en-US" sz="2800" b="1"/>
              <a:t>Domain of  Project – Education</a:t>
            </a:r>
            <a:endParaRPr lang="en-IN" sz="2800" b="1">
              <a:highlight>
                <a:srgbClr val="FFFF00"/>
              </a:highlight>
            </a:endParaRPr>
          </a:p>
        </p:txBody>
      </p:sp>
      <p:sp>
        <p:nvSpPr>
          <p:cNvPr id="7" name="TextBox 6"/>
          <p:cNvSpPr txBox="1"/>
          <p:nvPr/>
        </p:nvSpPr>
        <p:spPr>
          <a:xfrm>
            <a:off x="1206162" y="551965"/>
            <a:ext cx="9581177" cy="521970"/>
          </a:xfrm>
          <a:prstGeom prst="rect">
            <a:avLst/>
          </a:prstGeom>
          <a:noFill/>
        </p:spPr>
        <p:txBody>
          <a:bodyPr wrap="square" rtlCol="0">
            <a:spAutoFit/>
          </a:bodyPr>
          <a:lstStyle/>
          <a:p>
            <a:r>
              <a:rPr lang="en-US" sz="2800" b="1"/>
              <a:t>Project Tile – R</a:t>
            </a:r>
            <a:r>
              <a:rPr lang="en-US" altLang="en-US" sz="2800" b="1"/>
              <a:t>esearchx-vector-index</a:t>
            </a:r>
            <a:endParaRPr lang="en-US" altLang="en-US" sz="2800" b="1"/>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endParaRPr lang="en-US" sz="2000">
              <a:solidFill>
                <a:srgbClr val="FF0000"/>
              </a:solidFill>
            </a:endParaRPr>
          </a:p>
          <a:p>
            <a:r>
              <a:rPr lang="en-US" sz="2000">
                <a:solidFill>
                  <a:srgbClr val="FF0000"/>
                </a:solidFill>
              </a:rPr>
              <a:t>Font Size (Content): 20</a:t>
            </a:r>
            <a:endParaRPr lang="en-US" sz="2000">
              <a:solidFill>
                <a:srgbClr val="FF0000"/>
              </a:solidFill>
            </a:endParaRPr>
          </a:p>
        </p:txBody>
      </p:sp>
      <p:pic>
        <p:nvPicPr>
          <p:cNvPr id="2" name="Picture 1"/>
          <p:cNvPicPr>
            <a:picLocks noChangeAspect="1"/>
          </p:cNvPicPr>
          <p:nvPr/>
        </p:nvPicPr>
        <p:blipFill>
          <a:blip r:embed="rId1"/>
          <a:stretch>
            <a:fillRect/>
          </a:stretch>
        </p:blipFill>
        <p:spPr>
          <a:xfrm>
            <a:off x="4114800" y="3585210"/>
            <a:ext cx="1033780" cy="11760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364490" y="948690"/>
            <a:ext cx="11262995" cy="8071485"/>
          </a:xfrm>
          <a:prstGeom prst="rect">
            <a:avLst/>
          </a:prstGeom>
          <a:noFill/>
        </p:spPr>
        <p:txBody>
          <a:bodyPr wrap="square" rtlCol="0">
            <a:noAutofit/>
          </a:bodyPr>
          <a:lstStyle/>
          <a:p>
            <a:pPr fontAlgn="base"/>
            <a:r>
              <a:rPr lang="en-US" altLang="en-US" sz="2000" b="1"/>
              <a:t>The Challenge</a:t>
            </a:r>
            <a:endParaRPr lang="en-US" altLang="en-US" sz="2000" b="1"/>
          </a:p>
          <a:p>
            <a:pPr fontAlgn="base"/>
            <a:r>
              <a:rPr lang="en-US" altLang="en-US" sz="2000"/>
              <a:t>Brands, influencers, and organizations struggle to manage multiple social media platforms due to rapidly changing trends, shifting audience sentiment, and evolving competitor strategies. Fragmented data leads to missed engagement opportunities, ineffective campaigns, and delayed decision-making.</a:t>
            </a:r>
            <a:endParaRPr lang="en-US" altLang="en-US" sz="2000"/>
          </a:p>
          <a:p>
            <a:pPr fontAlgn="base"/>
            <a:r>
              <a:rPr lang="en-US" altLang="en-US" sz="2000" b="1"/>
              <a:t>The Objective</a:t>
            </a:r>
            <a:endParaRPr lang="en-US" altLang="en-US" sz="2000" b="1"/>
          </a:p>
          <a:p>
            <a:pPr fontAlgn="base"/>
            <a:r>
              <a:rPr lang="en-US" altLang="en-US" sz="2000"/>
              <a:t>Build an AI-powered Social Media Agent using IBM Bob, watsonx.ai, and Granite Models that provides:</a:t>
            </a:r>
            <a:endParaRPr lang="en-US" altLang="en-US" sz="2000"/>
          </a:p>
          <a:p>
            <a:pPr fontAlgn="base"/>
            <a:r>
              <a:rPr lang="en-US" altLang="en-US" sz="2000" b="1"/>
              <a:t>Multichannel Data Integration </a:t>
            </a:r>
            <a:r>
              <a:rPr lang="en-US" altLang="en-US" sz="2000"/>
              <a:t>– Analyze posts, comments, hashtags, and competitor content from X, LinkedIn, Instagram, and Facebook.</a:t>
            </a:r>
            <a:endParaRPr lang="en-US" altLang="en-US" sz="2000"/>
          </a:p>
          <a:p>
            <a:pPr fontAlgn="base"/>
            <a:r>
              <a:rPr lang="en-US" altLang="en-US" sz="2000" b="1"/>
              <a:t>AI Content Generation </a:t>
            </a:r>
            <a:r>
              <a:rPr lang="en-US" altLang="en-US" sz="2000"/>
              <a:t>– Create posts, captions, hashtags, and campaign ideas from text, image, or voice inputs.</a:t>
            </a:r>
            <a:endParaRPr lang="en-US" altLang="en-US" sz="2000"/>
          </a:p>
          <a:p>
            <a:pPr fontAlgn="base"/>
            <a:r>
              <a:rPr lang="en-US" altLang="en-US" sz="2000" b="1"/>
              <a:t>Predictive Analytics </a:t>
            </a:r>
            <a:r>
              <a:rPr lang="en-US" altLang="en-US" sz="2000"/>
              <a:t>– Forecast trending hashtags, audience sentiment, competitor activity, and optimal posting times.</a:t>
            </a:r>
            <a:endParaRPr lang="en-US" altLang="en-US" sz="2000"/>
          </a:p>
          <a:p>
            <a:pPr fontAlgn="base"/>
            <a:r>
              <a:rPr lang="en-US" altLang="en-US" sz="2000"/>
              <a:t>Multi-Agent System</a:t>
            </a:r>
            <a:endParaRPr lang="en-US" altLang="en-US" sz="2000"/>
          </a:p>
          <a:p>
            <a:pPr fontAlgn="base"/>
            <a:r>
              <a:rPr lang="en-US" altLang="en-US" sz="2000"/>
              <a:t>Social Media Intelligence Agent</a:t>
            </a:r>
            <a:endParaRPr lang="en-US" altLang="en-US" sz="2000"/>
          </a:p>
          <a:p>
            <a:pPr fontAlgn="base"/>
            <a:r>
              <a:rPr lang="en-US" altLang="en-US" sz="2000"/>
              <a:t>Content Generation Agent</a:t>
            </a:r>
            <a:endParaRPr lang="en-US" altLang="en-US" sz="2000"/>
          </a:p>
          <a:p>
            <a:pPr fontAlgn="base"/>
            <a:r>
              <a:rPr lang="en-US" altLang="en-US" sz="2000"/>
              <a:t>Trend Forecasting Agent</a:t>
            </a:r>
            <a:endParaRPr lang="en-US" altLang="en-US" sz="2000"/>
          </a:p>
          <a:p>
            <a:pPr fontAlgn="base"/>
            <a:endParaRPr lang="en-US" altLang="en-US" sz="2000"/>
          </a:p>
          <a:p>
            <a:pPr fontAlgn="base"/>
            <a:endParaRPr lang="en-US" altLang="en-US" sz="2000"/>
          </a:p>
        </p:txBody>
      </p:sp>
      <p:sp>
        <p:nvSpPr>
          <p:cNvPr id="3" name="TextBox 2"/>
          <p:cNvSpPr txBox="1"/>
          <p:nvPr/>
        </p:nvSpPr>
        <p:spPr>
          <a:xfrm>
            <a:off x="346075" y="408940"/>
            <a:ext cx="7444740" cy="755650"/>
          </a:xfrm>
          <a:prstGeom prst="rect">
            <a:avLst/>
          </a:prstGeom>
          <a:noFill/>
        </p:spPr>
        <p:txBody>
          <a:bodyPr wrap="square" rtlCol="0">
            <a:noAutofit/>
          </a:bodyPr>
          <a:lstStyle/>
          <a:p>
            <a:r>
              <a:rPr lang="en-US" sz="2400" b="1"/>
              <a:t>Problem Statement -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427355" y="997585"/>
            <a:ext cx="10789285" cy="6299200"/>
          </a:xfrm>
          <a:prstGeom prst="rect">
            <a:avLst/>
          </a:prstGeom>
          <a:noFill/>
        </p:spPr>
        <p:txBody>
          <a:bodyPr wrap="square" rtlCol="0">
            <a:noAutofit/>
          </a:bodyPr>
          <a:lstStyle/>
          <a:p>
            <a:pPr fontAlgn="base"/>
            <a:endParaRPr lang="en-US" sz="2000" b="1"/>
          </a:p>
          <a:p>
            <a:r>
              <a:rPr lang="en-US" sz="2000" b="1"/>
              <a:t>Proposed Solution: </a:t>
            </a:r>
            <a:r>
              <a:rPr lang="en-US" altLang="en-US" sz="2000" b="1"/>
              <a:t>AI-Powered Social Media Agent</a:t>
            </a:r>
            <a:endParaRPr lang="en-US" altLang="en-US" sz="2000" b="1"/>
          </a:p>
          <a:p>
            <a:r>
              <a:rPr lang="en-US" altLang="en-US" sz="2000"/>
              <a:t>The solution includes an interactive analytics dashboard (built with Streamlit or React) that provides real-time visualization of engagement metrics, hashtag performance, audience sentiment, competitor benchmarking, influencer networks, campaign performance, and trend forecasts. The dashboard also delivers AI-driven content recommendations and actionable insights through intuitive charts and visual analytics.</a:t>
            </a:r>
            <a:endParaRPr lang="en-US" altLang="en-US" sz="2000"/>
          </a:p>
          <a:p>
            <a:endParaRPr lang="en-US" altLang="en-US" sz="2000"/>
          </a:p>
          <a:p>
            <a:r>
              <a:rPr lang="en-US" altLang="en-US" sz="2000"/>
              <a:t>IBM Bob serves as the orchestration layer, coordinating the interaction between multiple AI agents and automating end-to-end workflows. IBM watsonx.ai enables scalable model deployment, vector embeddings, semantic retrieval, and enterprise-grade AI governance, while IBM Granite Models power intelligent content generation, summarization, sentiment analysis, reasoning, trend forecasting, and strategic decision support.</a:t>
            </a:r>
            <a:endParaRPr lang="en-US" altLang="en-US" sz="2000"/>
          </a:p>
          <a:p>
            <a:endParaRPr lang="en-US" altLang="en-US" sz="2000"/>
          </a:p>
          <a:p>
            <a:r>
              <a:rPr lang="en-US" altLang="en-US" sz="2000"/>
              <a:t>Overall, the proposed solution delivers an end-to-end agentic AI platform for social media intelligence, empowering brands, influencers, and organizations to generate high-quality content, monitor audience behavior, anticipate emerging trends, optimize campaign strategies, and make data-driven decisions through real-time insights and predictive analytics.</a:t>
            </a:r>
            <a:endParaRPr lang="en-US" altLang="en-US" sz="2000" b="1"/>
          </a:p>
          <a:p>
            <a:endParaRPr lang="en-IN" sz="2000"/>
          </a:p>
        </p:txBody>
      </p:sp>
      <p:sp>
        <p:nvSpPr>
          <p:cNvPr id="3" name="TextBox 2"/>
          <p:cNvSpPr txBox="1"/>
          <p:nvPr/>
        </p:nvSpPr>
        <p:spPr>
          <a:xfrm>
            <a:off x="177800" y="284480"/>
            <a:ext cx="7613015" cy="881380"/>
          </a:xfrm>
          <a:prstGeom prst="rect">
            <a:avLst/>
          </a:prstGeom>
          <a:noFill/>
        </p:spPr>
        <p:txBody>
          <a:bodyPr wrap="square" rtlCol="0">
            <a:noAutofit/>
          </a:bodyPr>
          <a:lstStyle/>
          <a:p>
            <a:r>
              <a:rPr lang="en-US" sz="2800" b="1"/>
              <a:t>Proposed Solution -</a:t>
            </a:r>
            <a:endParaRPr lang="en-IN" sz="28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521970"/>
          </a:xfrm>
          <a:prstGeom prst="rect">
            <a:avLst/>
          </a:prstGeom>
          <a:noFill/>
        </p:spPr>
        <p:txBody>
          <a:bodyPr wrap="square" lIns="91440" tIns="45720" rIns="91440" bIns="45720" rtlCol="0" anchor="t">
            <a:spAutoFit/>
          </a:bodyPr>
          <a:lstStyle/>
          <a:p>
            <a:r>
              <a:rPr lang="en-US" sz="2800" b="1"/>
              <a:t>Technology Used</a:t>
            </a:r>
            <a:endParaRPr lang="en-IN" sz="2800" b="1"/>
          </a:p>
        </p:txBody>
      </p:sp>
      <p:sp>
        <p:nvSpPr>
          <p:cNvPr id="3" name="TextBox 2"/>
          <p:cNvSpPr txBox="1"/>
          <p:nvPr/>
        </p:nvSpPr>
        <p:spPr>
          <a:xfrm>
            <a:off x="777240" y="1207008"/>
            <a:ext cx="10515600" cy="5015865"/>
          </a:xfrm>
          <a:prstGeom prst="rect">
            <a:avLst/>
          </a:prstGeom>
          <a:noFill/>
        </p:spPr>
        <p:txBody>
          <a:bodyPr wrap="square" rtlCol="0">
            <a:spAutoFit/>
          </a:bodyPr>
          <a:lstStyle/>
          <a:p>
            <a:pPr marL="285750" indent="-285750">
              <a:buFont typeface="Arial" panose="020B0604020202020204" pitchFamily="34" charset="0"/>
              <a:buChar char="•"/>
            </a:pPr>
            <a:r>
              <a:rPr lang="en-US" altLang="en-US" sz="2000" b="1"/>
              <a:t>IBM Bob Platform </a:t>
            </a:r>
            <a:r>
              <a:rPr lang="en-US" altLang="en-US" sz="2000"/>
              <a:t>– For designing and orchestrating multi-agent workflows visually, enabling seamless coordination between the Social Media Intelligence Agent, Content Generation Agent, Trend Forecasting Agent, and Campaign Analytics Agent.</a:t>
            </a:r>
            <a:endParaRPr lang="en-US" altLang="en-US" sz="2000"/>
          </a:p>
          <a:p>
            <a:pPr marL="285750" indent="-285750">
              <a:buFont typeface="Arial" panose="020B0604020202020204" pitchFamily="34" charset="0"/>
              <a:buChar char="•"/>
            </a:pPr>
            <a:r>
              <a:rPr lang="en-US" altLang="en-US" sz="2000" b="1"/>
              <a:t>IBM Granite Model </a:t>
            </a:r>
            <a:r>
              <a:rPr lang="en-US" altLang="en-US" sz="2000"/>
              <a:t>– For natural language understanding, content generation, reasoning, sentiment analysis, trend forecasting, and personalized social media recommendations.</a:t>
            </a:r>
            <a:endParaRPr lang="en-US" altLang="en-US" sz="2000"/>
          </a:p>
          <a:p>
            <a:pPr marL="285750" indent="-285750">
              <a:buFont typeface="Arial" panose="020B0604020202020204" pitchFamily="34" charset="0"/>
              <a:buChar char="•"/>
            </a:pPr>
            <a:r>
              <a:rPr lang="en-US" altLang="en-US" sz="2000" b="1"/>
              <a:t>IBM Cloud</a:t>
            </a:r>
            <a:r>
              <a:rPr lang="en-US" altLang="en-US" sz="2000"/>
              <a:t> – It provides the infrastructure to build, deploy, and scale the Social Media Agent efficiently. IBM Cloud enables a reliable, secure, and scalable environment for deploying the Social Media Agent.</a:t>
            </a:r>
            <a:endParaRPr lang="en-US" altLang="en-US" sz="2000"/>
          </a:p>
          <a:p>
            <a:pPr marL="285750" indent="-285750">
              <a:buFont typeface="Arial" panose="020B0604020202020204" pitchFamily="34" charset="0"/>
              <a:buChar char="•"/>
            </a:pPr>
            <a:r>
              <a:rPr lang="en-US" altLang="en-US" sz="2000" b="1"/>
              <a:t>RAG (Retrieval-Augmented Generation)</a:t>
            </a:r>
            <a:r>
              <a:rPr lang="en-US" altLang="en-US" sz="2000"/>
              <a:t> – RAG fetches real-time social media data, trending hashtags, competitor posts, audience insights, and relevant content before generating intelligent recommendations, making the Social Media Agent more accurate, context-aware, and effective.</a:t>
            </a:r>
            <a:endParaRPr lang="en-US" altLang="en-US" sz="2000"/>
          </a:p>
          <a:p>
            <a:pPr marL="285750" indent="-285750">
              <a:buFont typeface="Arial" panose="020B0604020202020204" pitchFamily="34" charset="0"/>
              <a:buChar char="•"/>
            </a:pPr>
            <a:r>
              <a:rPr lang="en-US" altLang="en-US" sz="2000" b="1"/>
              <a:t>IBM watsonx.ai </a:t>
            </a:r>
            <a:r>
              <a:rPr lang="en-US" altLang="en-US" sz="2000"/>
              <a:t>– For model deployment, embeddings, semantic retrieval, and AI governance.</a:t>
            </a:r>
            <a:endParaRPr lang="en-US" altLang="en-US" sz="2000"/>
          </a:p>
          <a:p>
            <a:pPr marL="285750" indent="-285750">
              <a:buFont typeface="Arial" panose="020B0604020202020204" pitchFamily="34" charset="0"/>
              <a:buChar char="•"/>
            </a:pPr>
            <a:r>
              <a:rPr lang="en-US" altLang="en-US" sz="2000"/>
              <a:t>Vector Database (FAISS/Chroma) – For RAG-based retrieval of social media posts, hashtags, comments, competitor content, and trend data.</a:t>
            </a:r>
            <a:endParaRPr lang="en-US"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845" y="323215"/>
            <a:ext cx="6880225" cy="37020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800" b="1">
                <a:sym typeface="Times New Roman" panose="02020603050405020304"/>
              </a:rPr>
              <a:t>Required Files created using IBM bob -</a:t>
            </a:r>
            <a:endParaRPr sz="28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4369435"/>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2400">
                <a:sym typeface="+mn-ea"/>
              </a:rPr>
              <a:t>Index.html</a:t>
            </a:r>
            <a:endParaRPr lang="en-US" sz="2400"/>
          </a:p>
          <a:p>
            <a:pPr marL="342900" indent="-342900">
              <a:buFont typeface="+mj-lt"/>
              <a:buAutoNum type="arabicPeriod"/>
            </a:pPr>
            <a:endParaRPr lang="en-US" sz="2400"/>
          </a:p>
          <a:p>
            <a:pPr marL="342900" indent="-342900">
              <a:buFont typeface="+mj-lt"/>
              <a:buAutoNum type="arabicPeriod"/>
            </a:pPr>
            <a:r>
              <a:rPr lang="en-US" sz="2400">
                <a:sym typeface="+mn-ea"/>
              </a:rPr>
              <a:t>Style.css </a:t>
            </a:r>
            <a:endParaRPr lang="en-US" sz="2400"/>
          </a:p>
          <a:p>
            <a:pPr marL="0" indent="0">
              <a:buFont typeface="+mj-lt"/>
              <a:buNone/>
            </a:pPr>
            <a:endParaRPr lang="en-US" sz="2400"/>
          </a:p>
          <a:p>
            <a:pPr marL="0" indent="0">
              <a:buFont typeface="+mj-lt"/>
              <a:buNone/>
            </a:pPr>
            <a:r>
              <a:rPr lang="en-US" sz="2400"/>
              <a:t>3 .  .env</a:t>
            </a:r>
            <a:endParaRPr lang="en-US" sz="2400"/>
          </a:p>
          <a:p>
            <a:pPr marL="342900" indent="-342900">
              <a:buFont typeface="+mj-lt"/>
              <a:buAutoNum type="arabicPeriod"/>
            </a:pPr>
            <a:endParaRPr lang="en-US" sz="1800"/>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sp>
        <p:nvSpPr>
          <p:cNvPr id="9" name="Rectangle 8"/>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1"/>
          <a:stretch>
            <a:fillRect/>
          </a:stretch>
        </p:blipFill>
        <p:spPr>
          <a:xfrm>
            <a:off x="3276600" y="1283970"/>
            <a:ext cx="8524240" cy="53028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800" b="1" i="0" u="none" strike="noStrike" cap="none">
                <a:solidFill>
                  <a:srgbClr val="051D3A"/>
                </a:solidFill>
                <a:latin typeface="Arial" panose="020B0604020202020204" pitchFamily="34" charset="0"/>
                <a:ea typeface="Times New Roman" panose="02020603050405020304"/>
                <a:cs typeface="Arial" panose="020B0604020202020204" pitchFamily="34" charset="0"/>
                <a:sym typeface="Times New Roman" panose="02020603050405020304"/>
              </a:rPr>
              <a:t> IBM Bob Screenshots:</a:t>
            </a:r>
            <a:endParaRPr sz="2800" b="1">
              <a:latin typeface="Arial" panose="020B0604020202020204" pitchFamily="34" charset="0"/>
              <a:cs typeface="Arial" panose="020B0604020202020204" pitchFamily="34" charset="0"/>
              <a:sym typeface="Times New Roman" panose="02020603050405020304"/>
            </a:endParaRPr>
          </a:p>
        </p:txBody>
      </p:sp>
      <p:pic>
        <p:nvPicPr>
          <p:cNvPr id="5" name="Picture 4"/>
          <p:cNvPicPr>
            <a:picLocks noChangeAspect="1"/>
          </p:cNvPicPr>
          <p:nvPr/>
        </p:nvPicPr>
        <p:blipFill>
          <a:blip r:embed="rId1"/>
          <a:stretch>
            <a:fillRect/>
          </a:stretch>
        </p:blipFill>
        <p:spPr>
          <a:xfrm>
            <a:off x="1295400" y="965395"/>
            <a:ext cx="9217740" cy="57286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rcRect r="566" b="7039"/>
          <a:stretch>
            <a:fillRect/>
          </a:stretch>
        </p:blipFill>
        <p:spPr>
          <a:xfrm>
            <a:off x="80645" y="211455"/>
            <a:ext cx="11811635" cy="6532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21970"/>
          </a:xfrm>
          <a:prstGeom prst="rect">
            <a:avLst/>
          </a:prstGeom>
          <a:noFill/>
        </p:spPr>
        <p:txBody>
          <a:bodyPr wrap="square" rtlCol="0">
            <a:spAutoFit/>
          </a:bodyPr>
          <a:lstStyle/>
          <a:p>
            <a:r>
              <a:rPr lang="en-US" sz="2800" b="1"/>
              <a:t>Role of Agentic AI in the solution </a:t>
            </a:r>
            <a:endParaRPr lang="en-IN" sz="2800" b="1"/>
          </a:p>
        </p:txBody>
      </p:sp>
      <p:sp>
        <p:nvSpPr>
          <p:cNvPr id="3" name="TextBox 2"/>
          <p:cNvSpPr txBox="1"/>
          <p:nvPr/>
        </p:nvSpPr>
        <p:spPr>
          <a:xfrm>
            <a:off x="172720" y="868680"/>
            <a:ext cx="7872095" cy="6438265"/>
          </a:xfrm>
          <a:prstGeom prst="rect">
            <a:avLst/>
          </a:prstGeom>
          <a:noFill/>
        </p:spPr>
        <p:txBody>
          <a:bodyPr wrap="square" rtlCol="0">
            <a:noAutofit/>
          </a:bodyPr>
          <a:lstStyle/>
          <a:p>
            <a:r>
              <a:rPr lang="en-US" altLang="en-US" sz="2000" b="1"/>
              <a:t>Role of Agentic AI in Social Media Agent</a:t>
            </a:r>
            <a:endParaRPr lang="en-US" altLang="en-US" sz="2000" b="1"/>
          </a:p>
          <a:p>
            <a:endParaRPr lang="en-US" altLang="en-US" sz="2000"/>
          </a:p>
          <a:p>
            <a:r>
              <a:rPr lang="en-US" altLang="en-US" sz="2000"/>
              <a:t>Agentic AI enables the Social Media Agent to operate as an intelligent, autonomous system rather than a basic content generation tool. It coordinates multiple specialized agents to analyze social media data, generate engaging content, predict trends, and monitor campaign performance. By understanding brand tone, audience preferences, and campaign goals, it delivers personalized recommendations and adapts to real-time social media trends. This collaborative multi-agent approach improves decision-making, optimizes engagement, and helps brands create effective, data-driven social media strategies.</a:t>
            </a:r>
            <a:endParaRPr lang="en-US"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800" b="1">
                <a:sym typeface="Times New Roman" panose="02020603050405020304"/>
              </a:rPr>
              <a:t> Project Output Screenshot</a:t>
            </a:r>
            <a:endParaRPr sz="28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p:cNvPicPr>
            <a:picLocks noChangeAspect="1"/>
          </p:cNvPicPr>
          <p:nvPr/>
        </p:nvPicPr>
        <p:blipFill>
          <a:blip r:embed="rId1"/>
          <a:stretch>
            <a:fillRect/>
          </a:stretch>
        </p:blipFill>
        <p:spPr>
          <a:xfrm>
            <a:off x="177165" y="757555"/>
            <a:ext cx="11544935" cy="59836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800" b="1">
                <a:sym typeface="Times New Roman" panose="02020603050405020304"/>
              </a:rPr>
              <a:t> Project Output Screenshot</a:t>
            </a:r>
            <a:endParaRPr sz="28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4" name="Picture 3"/>
          <p:cNvPicPr>
            <a:picLocks noChangeAspect="1"/>
          </p:cNvPicPr>
          <p:nvPr/>
        </p:nvPicPr>
        <p:blipFill>
          <a:blip r:embed="rId1"/>
          <a:stretch>
            <a:fillRect/>
          </a:stretch>
        </p:blipFill>
        <p:spPr>
          <a:xfrm>
            <a:off x="152400" y="685800"/>
            <a:ext cx="10787380" cy="58972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800" b="1">
                <a:sym typeface="Times New Roman" panose="02020603050405020304"/>
              </a:rPr>
              <a:t> Project Output Screenshot</a:t>
            </a:r>
            <a:endParaRPr sz="28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3" name="Picture 2"/>
          <p:cNvPicPr>
            <a:picLocks noChangeAspect="1"/>
          </p:cNvPicPr>
          <p:nvPr/>
        </p:nvPicPr>
        <p:blipFill>
          <a:blip r:embed="rId1"/>
          <a:stretch>
            <a:fillRect/>
          </a:stretch>
        </p:blipFill>
        <p:spPr>
          <a:xfrm>
            <a:off x="0" y="914400"/>
            <a:ext cx="11216005" cy="57626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228600" y="304927"/>
            <a:ext cx="7123176" cy="521970"/>
          </a:xfrm>
          <a:prstGeom prst="rect">
            <a:avLst/>
          </a:prstGeom>
          <a:noFill/>
        </p:spPr>
        <p:txBody>
          <a:bodyPr wrap="square" rtlCol="0">
            <a:spAutoFit/>
          </a:bodyPr>
          <a:lstStyle/>
          <a:p>
            <a:r>
              <a:rPr lang="en-US" sz="2800" b="1"/>
              <a:t>Novelty and Uniqueness</a:t>
            </a:r>
            <a:endParaRPr lang="en-IN" sz="2800" b="1"/>
          </a:p>
        </p:txBody>
      </p:sp>
      <p:sp>
        <p:nvSpPr>
          <p:cNvPr id="3" name="TextBox 2"/>
          <p:cNvSpPr txBox="1"/>
          <p:nvPr/>
        </p:nvSpPr>
        <p:spPr>
          <a:xfrm>
            <a:off x="304165" y="946785"/>
            <a:ext cx="11795125" cy="4603750"/>
          </a:xfrm>
          <a:prstGeom prst="rect">
            <a:avLst/>
          </a:prstGeom>
          <a:noFill/>
        </p:spPr>
        <p:txBody>
          <a:bodyPr wrap="square" rtlCol="0">
            <a:noAutofit/>
          </a:bodyPr>
          <a:lstStyle/>
          <a:p>
            <a:r>
              <a:rPr lang="en-US" altLang="en-US" sz="2000"/>
              <a:t>The proposed Social Media Agent stands out by combining Agentic AI, RAG, predictive analytics, and personalization into a single intelligent platform.</a:t>
            </a:r>
            <a:endParaRPr lang="en-US" altLang="en-US" sz="2000" b="1"/>
          </a:p>
          <a:p>
            <a:endParaRPr lang="en-US" altLang="en-US" sz="2000" b="1"/>
          </a:p>
          <a:p>
            <a:r>
              <a:rPr lang="en-US" altLang="en-US" sz="2000" b="1"/>
              <a:t>Multi-Agent Intelligence </a:t>
            </a:r>
            <a:r>
              <a:rPr lang="en-US" altLang="en-US" sz="2000"/>
              <a:t>– Specialized agents collaborate for content generation, trend analysis, and campaign optimization.</a:t>
            </a:r>
            <a:endParaRPr lang="en-US" altLang="en-US" sz="2000"/>
          </a:p>
          <a:p>
            <a:r>
              <a:rPr lang="en-US" altLang="en-US" sz="2000" b="1"/>
              <a:t>RAG-Based Accuracy </a:t>
            </a:r>
            <a:r>
              <a:rPr lang="en-US" altLang="en-US" sz="2000"/>
              <a:t>– Retrieves real-time social media data for reliable, context-aware insights.</a:t>
            </a:r>
            <a:endParaRPr lang="en-US" altLang="en-US" sz="2000"/>
          </a:p>
          <a:p>
            <a:r>
              <a:rPr lang="en-US" altLang="en-US" sz="2000" b="1"/>
              <a:t>Personalized Content </a:t>
            </a:r>
            <a:r>
              <a:rPr lang="en-US" altLang="en-US" sz="2000"/>
              <a:t>– Generates posts, captions, and hashtags aligned with brand tone and audience.</a:t>
            </a:r>
            <a:endParaRPr lang="en-US" altLang="en-US" sz="2000"/>
          </a:p>
          <a:p>
            <a:r>
              <a:rPr lang="en-US" altLang="en-US" sz="2000" b="1"/>
              <a:t>Real-Time Trend Forecasting</a:t>
            </a:r>
            <a:r>
              <a:rPr lang="en-US" altLang="en-US" sz="2000"/>
              <a:t> – Predicts trending hashtags, audience sentiment, and best posting times.</a:t>
            </a:r>
            <a:endParaRPr lang="en-US" altLang="en-US" sz="2000"/>
          </a:p>
          <a:p>
            <a:r>
              <a:rPr lang="en-US" altLang="en-US" sz="2000" b="1"/>
              <a:t>Multimodal Interaction</a:t>
            </a:r>
            <a:r>
              <a:rPr lang="en-US" altLang="en-US" sz="2000"/>
              <a:t> – Supports text, image, and voice inputs.</a:t>
            </a:r>
            <a:endParaRPr lang="en-US" altLang="en-US" sz="2000"/>
          </a:p>
          <a:p>
            <a:r>
              <a:rPr lang="en-US" altLang="en-US" sz="2000" b="1"/>
              <a:t>Enterprise-Ready</a:t>
            </a:r>
            <a:r>
              <a:rPr lang="en-US" altLang="en-US" sz="2000"/>
              <a:t> – Built using IBM Bob, watsonx.ai, and Granite Models.</a:t>
            </a:r>
            <a:endParaRPr lang="en-US" altLang="en-US" sz="2000"/>
          </a:p>
          <a:p>
            <a:endParaRPr lang="en-US" altLang="en-US" sz="2000"/>
          </a:p>
          <a:p>
            <a:endParaRPr lang="en-US" altLang="en-US" sz="2000"/>
          </a:p>
          <a:p>
            <a:r>
              <a:rPr lang="en-US" altLang="en-US" sz="2000" b="1"/>
              <a:t>Resul</a:t>
            </a:r>
            <a:r>
              <a:rPr lang="en-US" altLang="en-US" sz="2000"/>
              <a:t>t: An intelligent, adaptive, and proactive AI Social Media Assistant—not just a content generator.</a:t>
            </a:r>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800" b="1">
                <a:sym typeface="Times New Roman" panose="02020603050405020304"/>
              </a:rPr>
              <a:t>Git Hub Link</a:t>
            </a:r>
            <a:endParaRPr sz="28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URL – </a:t>
            </a:r>
            <a:r>
              <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hlinkClick r:id="rId1" tooltip="" action="ppaction://hlinkfile"/>
              </a:rPr>
              <a:t>https://github.com/shivani11jadhav/AI-Social-Media-Agent/</a:t>
            </a:r>
            <a:endPar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254000" y="150495"/>
            <a:ext cx="7409180" cy="974725"/>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800" b="1">
                <a:sym typeface="Times New Roman" panose="02020603050405020304"/>
              </a:rPr>
              <a:t>Future Scope </a:t>
            </a:r>
            <a:endParaRPr sz="2800" b="1">
              <a:sym typeface="Times New Roman" panose="02020603050405020304"/>
            </a:endParaRPr>
          </a:p>
        </p:txBody>
      </p:sp>
      <p:sp>
        <p:nvSpPr>
          <p:cNvPr id="279" name="Google Shape;279;p18"/>
          <p:cNvSpPr/>
          <p:nvPr/>
        </p:nvSpPr>
        <p:spPr>
          <a:xfrm>
            <a:off x="596265" y="1021715"/>
            <a:ext cx="9836785" cy="447675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2000" b="1"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rPr>
              <a:t>1. Integration with Live Social Media APIs</a:t>
            </a:r>
            <a:endParaRPr lang="en-US" altLang="en-US" sz="2000" b="1"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2000" b="0"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rPr>
              <a:t>The system can be integrated with official APIs of platforms such as X, LinkedIn, Instagram, and Facebook to fetch real-time posts, hashtags, audience engagement, and competitor activities. This will enable the Social Media Agent to provide more accurate insights, live trend analysis, and instant campaign recommendations.</a:t>
            </a:r>
            <a:endParaRPr lang="en-US" altLang="en-US" sz="2000" b="0"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2000" b="1"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rPr>
              <a:t>2. AI-Powered Voice Assistant &amp; Multilingual Support</a:t>
            </a:r>
            <a:endParaRPr lang="en-US" altLang="en-US" sz="2000" b="1"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2000" b="0"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rPr>
              <a:t>Enhancing the system with a voice-enabled assistant and multilingual support will improve accessibility and user experience. Users will be able to create content, analyze campaigns, and receive AI-powered recommendations using voice commands in their preferred language, making the solution suitable for a global audience.</a:t>
            </a:r>
            <a:endParaRPr lang="en-US" altLang="en-US" sz="2000" b="0" i="0" u="none" strike="noStrike" cap="none">
              <a:solidFill>
                <a:srgbClr val="000000"/>
              </a:solidFill>
              <a:latin typeface="Arial" panose="020B0604020202020204" pitchFamily="34" charset="0"/>
              <a:ea typeface="Times New Roman" panose="02020603050405020304"/>
              <a:cs typeface="Arial" panose="020B0604020202020204" pitchFamily="34" charset="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080" y="207645"/>
            <a:ext cx="6428740" cy="953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Certificates Earned:</a:t>
            </a:r>
            <a:endParaRPr lang="en-US" sz="2800" b="1"/>
          </a:p>
          <a:p>
            <a:pPr algn="ctr"/>
            <a:endParaRPr lang="en-US" sz="2800"/>
          </a:p>
        </p:txBody>
      </p:sp>
      <p:sp>
        <p:nvSpPr>
          <p:cNvPr id="3" name="TextBox 2"/>
          <p:cNvSpPr txBox="1"/>
          <p:nvPr/>
        </p:nvSpPr>
        <p:spPr>
          <a:xfrm>
            <a:off x="175260" y="690245"/>
            <a:ext cx="6766560" cy="54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r>
              <a:rPr lang="en-US" sz="2800" b="1"/>
              <a:t>Please  add your credly certificate </a:t>
            </a:r>
            <a:endParaRPr lang="en-US" sz="2800" b="1"/>
          </a:p>
        </p:txBody>
      </p:sp>
      <p:pic>
        <p:nvPicPr>
          <p:cNvPr id="2" name="Picture 1"/>
          <p:cNvPicPr>
            <a:picLocks noChangeAspect="1"/>
          </p:cNvPicPr>
          <p:nvPr/>
        </p:nvPicPr>
        <p:blipFill>
          <a:blip r:embed="rId1"/>
          <a:stretch>
            <a:fillRect/>
          </a:stretch>
        </p:blipFill>
        <p:spPr>
          <a:xfrm>
            <a:off x="0" y="1447800"/>
            <a:ext cx="7337425" cy="47853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953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i="0" u="none" strike="noStrike" baseline="0">
                <a:solidFill>
                  <a:srgbClr val="000000"/>
                </a:solidFill>
                <a:latin typeface="Arial" panose="020B0604020202020204"/>
              </a:rPr>
              <a:t>Certificates Earned:</a:t>
            </a:r>
            <a:r>
              <a:rPr sz="2800" b="0" i="0">
                <a:solidFill>
                  <a:srgbClr val="000000"/>
                </a:solidFill>
                <a:latin typeface="Arial" panose="020B0604020202020204"/>
                <a:ea typeface="Arial" panose="020B0604020202020204"/>
                <a:cs typeface="Arial" panose="020B0604020202020204"/>
              </a:rPr>
              <a:t>​</a:t>
            </a:r>
            <a:endParaRPr lang="en-US" sz="2800"/>
          </a:p>
          <a:p>
            <a:pPr algn="ctr"/>
            <a:endParaRPr lang="en-US" sz="2800"/>
          </a:p>
        </p:txBody>
      </p:sp>
      <p:sp>
        <p:nvSpPr>
          <p:cNvPr id="6" name="TextBox 5"/>
          <p:cNvSpPr txBox="1"/>
          <p:nvPr/>
        </p:nvSpPr>
        <p:spPr>
          <a:xfrm>
            <a:off x="496843" y="800470"/>
            <a:ext cx="5437681" cy="521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Add your IBM BOB Certificate</a:t>
            </a:r>
            <a:endParaRPr lang="en-US" sz="2800" b="1"/>
          </a:p>
        </p:txBody>
      </p:sp>
      <p:pic>
        <p:nvPicPr>
          <p:cNvPr id="2" name="Picture 1"/>
          <p:cNvPicPr>
            <a:picLocks noChangeAspect="1"/>
          </p:cNvPicPr>
          <p:nvPr/>
        </p:nvPicPr>
        <p:blipFill>
          <a:blip r:embed="rId1"/>
          <a:stretch>
            <a:fillRect/>
          </a:stretch>
        </p:blipFill>
        <p:spPr>
          <a:xfrm>
            <a:off x="76200" y="1562100"/>
            <a:ext cx="7825740" cy="46507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70C0"/>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6526</Words>
  <Application>WPS Presentation</Application>
  <PresentationFormat>Widescreen</PresentationFormat>
  <Paragraphs>166</Paragraphs>
  <Slides>18</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3</cp:revision>
  <dcterms:created xsi:type="dcterms:W3CDTF">2025-07-08T05:06:00Z</dcterms:created>
  <dcterms:modified xsi:type="dcterms:W3CDTF">2026-07-22T15:45:48Z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97D06526391346599F99CC9C47D968F5_13</vt:lpwstr>
  </property>
</Properties>
</file>